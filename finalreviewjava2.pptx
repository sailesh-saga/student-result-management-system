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74" r:id="rId6"/>
    <p:sldId id="278" r:id="rId7"/>
    <p:sldId id="280" r:id="rId8"/>
    <p:sldId id="283" r:id="rId9"/>
    <p:sldId id="286" r:id="rId10"/>
    <p:sldId id="285" r:id="rId11"/>
    <p:sldId id="294" r:id="rId12"/>
    <p:sldId id="295" r:id="rId13"/>
    <p:sldId id="296" r:id="rId14"/>
    <p:sldId id="271" r:id="rId15"/>
    <p:sldId id="261" r:id="rId16"/>
    <p:sldId id="267" r:id="rId17"/>
    <p:sldId id="297" r:id="rId18"/>
    <p:sldId id="298" r:id="rId19"/>
    <p:sldId id="270" r:id="rId20"/>
    <p:sldId id="299" r:id="rId21"/>
    <p:sldId id="272" r:id="rId22"/>
    <p:sldId id="305" r:id="rId23"/>
    <p:sldId id="273" r:id="rId24"/>
    <p:sldId id="300" r:id="rId25"/>
    <p:sldId id="275" r:id="rId26"/>
    <p:sldId id="276" r:id="rId27"/>
    <p:sldId id="279" r:id="rId28"/>
    <p:sldId id="303" r:id="rId29"/>
    <p:sldId id="304" r:id="rId30"/>
    <p:sldId id="290" r:id="rId31"/>
    <p:sldId id="291" r:id="rId32"/>
    <p:sldId id="268" r:id="rId33"/>
    <p:sldId id="269" r:id="rId34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>
      <p:cViewPr varScale="1">
        <p:scale>
          <a:sx n="66" d="100"/>
          <a:sy n="66" d="100"/>
        </p:scale>
        <p:origin x="215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A07A5-14C6-E585-8655-9D9D52E5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451EA-1440-E913-BE4A-B614B423C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B861F-0E31-A9FE-3DE3-C88AA9FDC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3FD6E-6CD7-73E7-5843-F5D2AC9D0C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18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D6944-C75D-642A-33EC-861C4C9EE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92471-DA30-4B37-FCA6-6EF20124D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FE530-0FC2-EC25-4907-8124FE661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AE0AE-6066-70F2-58D0-DE497EDE9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059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139B1-A475-4CBB-3C79-9D26E5A86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1C7ED2-D36F-F380-B914-E293551BC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291147-730F-8489-F314-EBBEE6FC1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61C2B-CF90-5661-FD6B-4743F3CA88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220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C70F2-0EF9-0550-A72E-404207C35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00AA8-577A-B5F3-39C0-0D9C6D252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2C486-2F3A-630C-86E2-8D8A883F7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BFAA6-56A9-3BDB-EAC1-346BC26C2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100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2F799-EAEB-6B9D-5BA9-928990CB9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F39BC7-3182-A0D4-EBF5-45003FAEC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E858E-1B6D-9BF2-6521-BDB6E85E6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148C2-54C5-2317-F7C6-5CD263205D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703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E7C40-3D63-FC63-8C27-BCB57BEB3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8105A-3A8E-5364-D3AA-6AE2942B2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0126F-8D02-5F23-7A0B-2B867756A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3D426-E924-068E-072C-C60A4D96E9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26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B5C4E-ED28-6F56-EA20-358B4B371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0D030F-0C93-D790-863D-FCAC66B19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080601-32E2-F6AA-EE3E-74E74BF9B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11E16-5FD8-6B39-6B4A-758F8F50D9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2877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A269B-B765-48EB-AB8A-5FAB897011E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202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28AB7-E872-CF75-75BC-1F61B7A23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1A70BA-8817-C7CC-7CF6-0CAE712DE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751AC-BE55-30F2-7297-710BC962E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AB93E-F52A-E8B9-167F-0BC24549B6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A269B-B765-48EB-AB8A-5FAB897011E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764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DA75A-4E2C-EC17-4CC5-E8651391E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BA46C-D603-6DCC-972D-2F3DD4EEB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9FB3E-64B2-3D12-76A8-5A6E2934C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DC77F-F945-C8DC-CA77-754D5717F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A269B-B765-48EB-AB8A-5FAB897011E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5004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A6C76-9429-E134-5610-C60F1245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35E5E-DD93-CB16-7D91-2A48BEB01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5C381-5AF9-8929-450C-C7859BB62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02B0B-DF56-1B6B-22F7-91AE348AC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A269B-B765-48EB-AB8A-5FAB897011EE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7517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EFA2C-080C-2032-B497-B45297340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86FC80-56DA-1F28-BD8B-D058A5BDD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C2BCD8-8D85-C171-2673-33EFBDBD1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72E2F-276B-167F-2FCB-C1A4F433E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A269B-B765-48EB-AB8A-5FAB897011EE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0096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313C2-7DBD-7DF9-FE44-F335A5C91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D0ADC-B2A5-D685-E814-B106B50FD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5D6DC-BFD8-A144-5A50-9512B0420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B711E-169B-7626-1F1B-E76F8285B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A269B-B765-48EB-AB8A-5FAB897011EE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5956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BA911-485B-C84F-6CC8-03F7ACA37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32889-D7A7-5100-39A3-FCA9488E5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9B890-C3D1-7C72-4D1A-2D5AC1AAA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B2BE5-FDB2-DCB3-11EB-E390F2468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A269B-B765-48EB-AB8A-5FAB897011EE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881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CD706-202D-7740-06DD-0FC2760C4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AC387-8287-320E-0FBF-1122A04DC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BAEF1-2C5C-0CD1-98ED-0821C7E90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1F3E1-613F-4E70-0361-5BA41CB44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A269B-B765-48EB-AB8A-5FAB897011EE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7309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6A83F-67B6-282B-4D8C-FEF267E02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407101-2DCB-ECE9-BE3F-0F8A569C8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68B80-ECEE-EE4B-D8A0-A97A6B9A3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1AD96-B791-E2FA-5A3C-1065E84336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A269B-B765-48EB-AB8A-5FAB897011EE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0764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AEE1D-5A4C-C726-07CC-835A7DB7C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15C065-5F77-8BFC-48B3-1006B47C3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2E79C-C846-9E90-9430-0DC7D4957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0B047-A49D-E249-4921-6BC5652DF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A269B-B765-48EB-AB8A-5FAB897011EE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4090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7B8FE-4432-CBBA-CBAC-8F43FC8C9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0502DC-088D-8C41-F00E-829984045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1A8243-0D5F-372A-BBD5-DFE977BAA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0FAF2-57C5-67AC-0539-E9C31A526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A269B-B765-48EB-AB8A-5FAB897011EE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2326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E994F-2F98-3A28-E826-9F9159D9C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7EA44A-B570-E289-76C2-523E7A4EA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A903E-D931-F294-8F81-B64ECCAA5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D3A24-BA41-8FA0-FCAA-587E57332E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A269B-B765-48EB-AB8A-5FAB897011EE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9566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1FE8B-AC44-9D94-C4EC-543B3AFC6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459D8-776C-C320-206D-B0041CDC1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7CBC2D-26E4-61FF-4405-D8B0046EE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88B99-E975-7EC1-E806-AF57F58DD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A269B-B765-48EB-AB8A-5FAB897011EE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8427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9B7A6-2BEC-634D-6A96-91F036E2B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B03B1-10E1-AC91-73F7-0B61D7C42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7C780-45FD-A7AF-6CDA-6889765C2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FB91B-FF4C-BB53-5396-C1A637024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A269B-B765-48EB-AB8A-5FAB897011EE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57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4B97-B1FB-8231-AE11-1088DE8FA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2454464"/>
            <a:ext cx="7543800" cy="1523494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DA1FF-D71F-D085-85C1-84C13C5CE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304699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0C8D2-7650-1B3F-B9B3-36CB20D4B5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920" y="7228332"/>
            <a:ext cx="2313432" cy="276999"/>
          </a:xfrm>
        </p:spPr>
        <p:txBody>
          <a:bodyPr/>
          <a:lstStyle/>
          <a:p>
            <a:fld id="{30C8B797-85F5-4F4C-B0F2-9C57B7679B79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1BA2B-849C-0D19-E224-4358173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9856" y="7228332"/>
            <a:ext cx="3218688" cy="276999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9EE81-B06E-03B3-94B7-7BE67971D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42048" y="7228332"/>
            <a:ext cx="2313432" cy="276999"/>
          </a:xfrm>
        </p:spPr>
        <p:txBody>
          <a:bodyPr/>
          <a:lstStyle/>
          <a:p>
            <a:fld id="{2F0EA9F4-91E4-4384-B5A3-14DE2CA063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849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0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hyperlink" Target="https://docs.oracle.com/javase" TargetMode="External"/><Relationship Id="rId7" Type="http://schemas.openxmlformats.org/officeDocument/2006/relationships/image" Target="../media/image8.png"/><Relationship Id="rId2" Type="http://schemas.openxmlformats.org/officeDocument/2006/relationships/hyperlink" Target="https://docs.oracl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hyperlink" Target="https://www.w3schools.com/java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1076308"/>
            <a:ext cx="7467599" cy="202824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Team-4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422295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RESULT MANAGEMENT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18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SAILESH (24B11DS183)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18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SATYA ANUNAY (24B11DS226)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18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GEETHCHARAN (24B11DS004)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18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NITHIN KUMAR (24B11DS206)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2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Guide: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200" spc="-1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Karnam Sreenu</a:t>
            </a: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lang="en-IN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IN"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Data Science</a:t>
            </a: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0408" y="1191211"/>
            <a:ext cx="3770980" cy="54950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2338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43400" y="325191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85EBB0-9E22-4C09-86B0-6B7DBEA14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1321179"/>
            <a:ext cx="86106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Result Management System (SRMS)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Java-based application designed to manage student academic records and result processing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functionalities such as adding student details, entering marks, calculating grades, and generating report cards, thereby reducing manual effort and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SRMS aims to improve accuracy, accessibility, and convenience for both students and administrators by using a structured and centralized approach.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will be developed using core Java concepts along with database connectivity to ensure secure and persistent data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includes secure login modules to ensure that sensitive academic data remains protected while providing a seamless user experience for all stakeholders.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15829B4-BD94-EDC8-874B-8BE12A777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375" y="1084118"/>
            <a:ext cx="9005650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Result Management System (SRMS)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an automated software solution developed to streamline the management of academic performance in educational institutions.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Traditionally, maintaining student records and calculating results manually is a time-consuming process that is highly susceptible to inaccuracies and data redundancy.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a digital framework that enables administrators to store, update, and retrieve student information and marks with high speed and precision.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a user-friendly interface with a robust backend, the system ensures that performance evaluation becomes a transparent and efficient process for the faculty.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introduction of this system marks a transition from paper-based ledgers to a secure electronic database, enhancing the overall productivity of the examination department.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17781" y="33282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762000" y="1322610"/>
            <a:ext cx="85344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Requirements:</a:t>
            </a:r>
          </a:p>
          <a:p>
            <a:pPr marL="285750" indent="-285750"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allow the admin to add new student records including student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ID,name,branch,semester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login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details.Proper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validation should ensure accurate data entry.</a:t>
            </a:r>
          </a:p>
          <a:p>
            <a:pPr marL="285750" indent="-285750"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provide functionality to add and manage subject details such as subject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ID,subject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name, and branch association</a:t>
            </a:r>
          </a:p>
          <a:p>
            <a:pPr marL="285750" indent="-285750"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allow faculty to enter and update student marks for assigned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subjects.It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ensure that only authorized faculty can modify marks.</a:t>
            </a:r>
          </a:p>
          <a:p>
            <a:pPr marL="285750" indent="-285750"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allow users to view student results, including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marks,grades,a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dn performance summaries.</a:t>
            </a:r>
          </a:p>
          <a:p>
            <a:pPr marL="285750" indent="-285750"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display student performance in each subject, including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marks,grades,and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pass/fail status.</a:t>
            </a:r>
          </a:p>
          <a:p>
            <a:pPr marL="285750" indent="-285750"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support searching for student details and results using criteria quickly.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810000" y="342558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987471" y="1053128"/>
            <a:ext cx="8305800" cy="6633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i3 or above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4 GB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20 GB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Devices: Keyboard, Mouse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Device: Monitor</a:t>
            </a:r>
          </a:p>
          <a:p>
            <a:pPr>
              <a:lnSpc>
                <a:spcPct val="150000"/>
              </a:lnSpc>
            </a:pP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Java (JDK 8 or above)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VS Code &amp; Notepad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Oracle Database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Connectivity:JDBC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3C03A-992A-CEAD-5FB8-68652782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EA7C8F04-95CA-C1E0-BFA2-4BFACD89E6B8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989C992-155F-6A68-0B08-3B39FFBAA62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D031E1F9-FB82-922E-C796-97077F94E70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8EAA2CC3-9696-811E-B5BE-5C184817770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F65D09F8-C17C-F03E-88B8-4942A39F2099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65154CDE-FB1D-92DB-77E9-9CDAB77B88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5E89CD20-90CB-480C-A4EB-EC7405BED44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DD3B24-C6E3-C570-0D11-D85BD4A44819}"/>
              </a:ext>
            </a:extLst>
          </p:cNvPr>
          <p:cNvSpPr txBox="1"/>
          <p:nvPr/>
        </p:nvSpPr>
        <p:spPr>
          <a:xfrm>
            <a:off x="1453752" y="1538820"/>
            <a:ext cx="76902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Result Management System uses a relational database to store information in a structured manner. The database consists of multiple tables such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Student,Subject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Marks, and Course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Regsitration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Subject table stores subject information including student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ID,name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branch,semester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and username.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Subject table stores subject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information,including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subject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ID,subject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name,and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branch 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Marks table stores student marks for each subject and is linked with student and subject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Course Registration table stores the mapping of students to subjects.</a:t>
            </a:r>
          </a:p>
        </p:txBody>
      </p:sp>
    </p:spTree>
    <p:extLst>
      <p:ext uri="{BB962C8B-B14F-4D97-AF65-F5344CB8AC3E}">
        <p14:creationId xmlns:p14="http://schemas.microsoft.com/office/powerpoint/2010/main" val="891828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440B4-B462-F22D-0950-B6710CF9E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D4A9BBA5-9A38-1657-0653-14EC0D3B9CE4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6656BA03-D3A4-CDEA-202C-38C81F635B7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4C109C39-054A-E81F-70B9-386F94A44C3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1533A0EA-DA31-1EB6-ADF3-083AD01A4E8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E8E014C-4F7F-C10B-D153-7578A6AE564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E5ECF7B6-4D35-5116-1FBA-A710C58C5A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98FBF8DD-4922-6047-5E1A-EAFBB22DFB9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FE3A23-6F7A-9CD3-0012-E9E7C7331AAD}"/>
              </a:ext>
            </a:extLst>
          </p:cNvPr>
          <p:cNvSpPr txBox="1"/>
          <p:nvPr/>
        </p:nvSpPr>
        <p:spPr>
          <a:xfrm>
            <a:off x="1066800" y="1252897"/>
            <a:ext cx="4585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0D226A-4905-9A23-644C-CE3991C38936}"/>
              </a:ext>
            </a:extLst>
          </p:cNvPr>
          <p:cNvSpPr txBox="1"/>
          <p:nvPr/>
        </p:nvSpPr>
        <p:spPr>
          <a:xfrm>
            <a:off x="1074718" y="1940870"/>
            <a:ext cx="8366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Student Table :</a:t>
            </a:r>
            <a:r>
              <a:rPr lang="en-US" dirty="0"/>
              <a:t> </a:t>
            </a:r>
            <a:endParaRPr lang="en-IN" b="1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A2EBB8D-ECD5-E1A2-413F-793969B568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752014"/>
              </p:ext>
            </p:extLst>
          </p:nvPr>
        </p:nvGraphicFramePr>
        <p:xfrm>
          <a:off x="1363682" y="2296024"/>
          <a:ext cx="8077984" cy="4790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496">
                  <a:extLst>
                    <a:ext uri="{9D8B030D-6E8A-4147-A177-3AD203B41FA5}">
                      <a16:colId xmlns:a16="http://schemas.microsoft.com/office/drawing/2014/main" val="2565518768"/>
                    </a:ext>
                  </a:extLst>
                </a:gridCol>
                <a:gridCol w="2019496">
                  <a:extLst>
                    <a:ext uri="{9D8B030D-6E8A-4147-A177-3AD203B41FA5}">
                      <a16:colId xmlns:a16="http://schemas.microsoft.com/office/drawing/2014/main" val="1063026024"/>
                    </a:ext>
                  </a:extLst>
                </a:gridCol>
                <a:gridCol w="2019496">
                  <a:extLst>
                    <a:ext uri="{9D8B030D-6E8A-4147-A177-3AD203B41FA5}">
                      <a16:colId xmlns:a16="http://schemas.microsoft.com/office/drawing/2014/main" val="2318603987"/>
                    </a:ext>
                  </a:extLst>
                </a:gridCol>
                <a:gridCol w="2019496">
                  <a:extLst>
                    <a:ext uri="{9D8B030D-6E8A-4147-A177-3AD203B41FA5}">
                      <a16:colId xmlns:a16="http://schemas.microsoft.com/office/drawing/2014/main" val="4086323780"/>
                    </a:ext>
                  </a:extLst>
                </a:gridCol>
              </a:tblGrid>
              <a:tr h="708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Constraint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565158"/>
                  </a:ext>
                </a:extLst>
              </a:tr>
              <a:tr h="516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Student_id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Student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4488007"/>
                  </a:ext>
                </a:extLst>
              </a:tr>
              <a:tr h="89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Student_name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VARCHAR2(100)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Name of the 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9907431"/>
                  </a:ext>
                </a:extLst>
              </a:tr>
              <a:tr h="89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Branch_id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Branch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Not Null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2366527"/>
                  </a:ext>
                </a:extLst>
              </a:tr>
              <a:tr h="89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Semester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Semester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39708"/>
                  </a:ext>
                </a:extLst>
              </a:tr>
              <a:tr h="89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Username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VARCHAR2(50)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Login Username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Unique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9036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5870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A0787-E769-8B37-025D-041FF5E1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3476D6BF-13C6-C6B0-36DF-F1559314FAB1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70BE4208-2AED-46E3-654C-0DE2B83F7F4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8994CB99-6727-2B94-DE57-F503E8F8FB6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2851F0DB-95C6-22C8-2435-DA8595A2F76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7689328C-CC9D-EEE6-AEF0-27195081DA2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ECEAD52A-D6BA-B4AE-C1E4-8A54366273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FAB0F939-F8B0-7014-4713-2E3FA82313DF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205DEE-CF0B-DBC2-E5CD-2C4FB4661C9F}"/>
              </a:ext>
            </a:extLst>
          </p:cNvPr>
          <p:cNvSpPr txBox="1"/>
          <p:nvPr/>
        </p:nvSpPr>
        <p:spPr>
          <a:xfrm>
            <a:off x="1126910" y="1191045"/>
            <a:ext cx="4585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7D6DA8-89F8-4CB4-20B5-36719C763BE0}"/>
              </a:ext>
            </a:extLst>
          </p:cNvPr>
          <p:cNvSpPr txBox="1"/>
          <p:nvPr/>
        </p:nvSpPr>
        <p:spPr>
          <a:xfrm>
            <a:off x="1150918" y="1841694"/>
            <a:ext cx="8366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Table 1:Student Relational Database Table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4CD2BA1-FBEB-D591-1D32-2516A6652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143951"/>
              </p:ext>
            </p:extLst>
          </p:nvPr>
        </p:nvGraphicFramePr>
        <p:xfrm>
          <a:off x="1295400" y="2848068"/>
          <a:ext cx="8077984" cy="24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496">
                  <a:extLst>
                    <a:ext uri="{9D8B030D-6E8A-4147-A177-3AD203B41FA5}">
                      <a16:colId xmlns:a16="http://schemas.microsoft.com/office/drawing/2014/main" val="2565518768"/>
                    </a:ext>
                  </a:extLst>
                </a:gridCol>
                <a:gridCol w="2019496">
                  <a:extLst>
                    <a:ext uri="{9D8B030D-6E8A-4147-A177-3AD203B41FA5}">
                      <a16:colId xmlns:a16="http://schemas.microsoft.com/office/drawing/2014/main" val="1063026024"/>
                    </a:ext>
                  </a:extLst>
                </a:gridCol>
                <a:gridCol w="2019496">
                  <a:extLst>
                    <a:ext uri="{9D8B030D-6E8A-4147-A177-3AD203B41FA5}">
                      <a16:colId xmlns:a16="http://schemas.microsoft.com/office/drawing/2014/main" val="2318603987"/>
                    </a:ext>
                  </a:extLst>
                </a:gridCol>
                <a:gridCol w="2019496">
                  <a:extLst>
                    <a:ext uri="{9D8B030D-6E8A-4147-A177-3AD203B41FA5}">
                      <a16:colId xmlns:a16="http://schemas.microsoft.com/office/drawing/2014/main" val="4086323780"/>
                    </a:ext>
                  </a:extLst>
                </a:gridCol>
              </a:tblGrid>
              <a:tr h="642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565158"/>
                  </a:ext>
                </a:extLst>
              </a:tr>
              <a:tr h="642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Subject_id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Subject_ID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4488007"/>
                  </a:ext>
                </a:extLst>
              </a:tr>
              <a:tr h="583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Subject_name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VARCHAR2(100)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Ssubject</a:t>
                      </a:r>
                      <a:r>
                        <a:rPr lang="en-IN" dirty="0"/>
                        <a:t>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990743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Branch_id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Branch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Not Null 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2366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7093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AF869-60E9-7283-1E5C-031B97BB2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D22CCC8F-8AC9-DA04-7DF6-792709DB8A61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D3CC7CDE-C0AA-8C40-F47A-6BB38775C79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251A7B03-12DB-BDB0-A823-3B5CC5C3EA9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34C3D95F-A98E-C662-A8CA-7C226092743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51ECD6EB-B411-BAC9-D612-83CAADD7C06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05340093-ADC0-C519-A46D-D43188C518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EC0178A3-A864-AC29-8239-3EE3EEC824D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CC2DB0-515C-5729-13F5-411810B0A1D6}"/>
              </a:ext>
            </a:extLst>
          </p:cNvPr>
          <p:cNvSpPr txBox="1"/>
          <p:nvPr/>
        </p:nvSpPr>
        <p:spPr>
          <a:xfrm>
            <a:off x="990600" y="1268137"/>
            <a:ext cx="4585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4EB3E5-F5F4-BFDA-2030-B081D8DD8B72}"/>
              </a:ext>
            </a:extLst>
          </p:cNvPr>
          <p:cNvSpPr txBox="1"/>
          <p:nvPr/>
        </p:nvSpPr>
        <p:spPr>
          <a:xfrm>
            <a:off x="990600" y="1862938"/>
            <a:ext cx="8366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Marks Table: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F6B0F5-0FDB-2059-BAAA-EC98BE885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269058"/>
              </p:ext>
            </p:extLst>
          </p:nvPr>
        </p:nvGraphicFramePr>
        <p:xfrm>
          <a:off x="1440742" y="2879663"/>
          <a:ext cx="7924800" cy="2307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843935576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43596506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50833715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121942475"/>
                    </a:ext>
                  </a:extLst>
                </a:gridCol>
              </a:tblGrid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8740825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Student_id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NUMBER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Student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Foreign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349371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Subject_id</a:t>
                      </a:r>
                      <a:r>
                        <a:rPr lang="en-IN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NUMBER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Subject ID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Foreign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805091"/>
                  </a:ext>
                </a:extLst>
              </a:tr>
              <a:tr h="570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Marks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NUMBER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Marks Obtained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5615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6694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84773-26FD-A1F2-354D-503183EC9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2C8F4815-B893-1712-3A87-33251E22E54C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3D23EC4B-9A3F-6E8F-240B-1D0EB627C1C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AF4380E1-E6C5-CC32-24A8-DA85B74E7E9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DBD2816D-A6EF-570D-039F-978E592D71F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957A6A57-2B8E-D528-8544-76E7A54A6E9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2AA6E86B-8FB5-2880-2584-F071D63959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BB452BDF-49F5-F0F1-4655-6DB8763C447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6BA1F3-7E7E-41E9-F818-9B5D9BCA2D9B}"/>
              </a:ext>
            </a:extLst>
          </p:cNvPr>
          <p:cNvSpPr txBox="1"/>
          <p:nvPr/>
        </p:nvSpPr>
        <p:spPr>
          <a:xfrm>
            <a:off x="990600" y="1268137"/>
            <a:ext cx="4585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BB9AFF-2517-23C3-870D-5C5B3276FBA9}"/>
              </a:ext>
            </a:extLst>
          </p:cNvPr>
          <p:cNvSpPr txBox="1"/>
          <p:nvPr/>
        </p:nvSpPr>
        <p:spPr>
          <a:xfrm>
            <a:off x="990600" y="1862938"/>
            <a:ext cx="8366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Registration Table: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FFD28F-37B5-465D-E917-90CFAAA5C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971775"/>
              </p:ext>
            </p:extLst>
          </p:nvPr>
        </p:nvGraphicFramePr>
        <p:xfrm>
          <a:off x="1440742" y="2879663"/>
          <a:ext cx="7924800" cy="1736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843935576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43596506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50833715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121942475"/>
                    </a:ext>
                  </a:extLst>
                </a:gridCol>
              </a:tblGrid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8740825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Student_id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NUMBER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Student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Foreign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349371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Subject_id</a:t>
                      </a:r>
                      <a:r>
                        <a:rPr lang="en-IN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NUMBER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Subject ID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Foreign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805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2571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3D63C-DEEE-29C7-3033-41EA8C109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29A61142-CDB0-3E67-7A60-81EC1B0E8D3A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93AC4D78-89CE-58A5-5449-BEF3110095E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FF8A5EF6-75E2-A308-0864-C3F6C05AF90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FC4D3927-0C1D-088E-48AB-99FCD9A8339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6E0EFCD7-A788-B606-9784-193E146760E5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575CBF3B-217B-EA02-BB07-DD738B6251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3B6A91CF-B360-CBD4-7823-34B1DF8B933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8BFBA0-19FD-D70D-8145-9EE59A25EE22}"/>
              </a:ext>
            </a:extLst>
          </p:cNvPr>
          <p:cNvSpPr txBox="1"/>
          <p:nvPr/>
        </p:nvSpPr>
        <p:spPr>
          <a:xfrm>
            <a:off x="990600" y="1268137"/>
            <a:ext cx="4585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ED05E3-1961-A389-87C1-F3657CB5F1B5}"/>
              </a:ext>
            </a:extLst>
          </p:cNvPr>
          <p:cNvSpPr txBox="1"/>
          <p:nvPr/>
        </p:nvSpPr>
        <p:spPr>
          <a:xfrm>
            <a:off x="959278" y="1729802"/>
            <a:ext cx="83669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Marks Relational Database Table:</a:t>
            </a:r>
          </a:p>
          <a:p>
            <a:endParaRPr lang="en-IN" b="1" dirty="0"/>
          </a:p>
          <a:p>
            <a:r>
              <a:rPr lang="en-IN" b="1" dirty="0"/>
              <a:t>Course Registration Table: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8EBF95-8EB8-4402-5EF3-2F5421CEF7A9}"/>
              </a:ext>
            </a:extLst>
          </p:cNvPr>
          <p:cNvGraphicFramePr>
            <a:graphicFrameLocks noGrp="1"/>
          </p:cNvGraphicFramePr>
          <p:nvPr/>
        </p:nvGraphicFramePr>
        <p:xfrm>
          <a:off x="1440742" y="2879663"/>
          <a:ext cx="7924800" cy="1736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843935576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43596506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50833715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121942475"/>
                    </a:ext>
                  </a:extLst>
                </a:gridCol>
              </a:tblGrid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8740825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Student_id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NUMBER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Student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Foreign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349371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Subject_id</a:t>
                      </a:r>
                      <a:r>
                        <a:rPr lang="en-IN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NUMBER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Subject ID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Foreign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805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644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1CC41-1092-5CEF-B688-B07981A9D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513DC774-AD6C-EC11-FE0A-4D164EA28B3C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24483A73-A3A1-A5EA-CC1C-DDBAF8CD210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7CE92708-D42C-4BB4-2E26-EB2192C3438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CBA54C69-7C1E-4EE6-2BC8-F9D3F5F4702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EA51390F-03C4-7414-C60F-FE7D13CA150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C1BA1348-CEE9-00C5-CD93-AB1A86B4DD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0D33A1C9-FF5F-1CF3-7725-D62D929CEC6E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3F29A9-998D-5648-A0E4-FEFC29500968}"/>
              </a:ext>
            </a:extLst>
          </p:cNvPr>
          <p:cNvSpPr txBox="1"/>
          <p:nvPr/>
        </p:nvSpPr>
        <p:spPr>
          <a:xfrm>
            <a:off x="990600" y="1268137"/>
            <a:ext cx="4585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4E46D1-D461-0867-40FB-15DD06F7BDCA}"/>
              </a:ext>
            </a:extLst>
          </p:cNvPr>
          <p:cNvSpPr txBox="1"/>
          <p:nvPr/>
        </p:nvSpPr>
        <p:spPr>
          <a:xfrm>
            <a:off x="959278" y="1729802"/>
            <a:ext cx="83669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Marks Relational Database Table:</a:t>
            </a:r>
          </a:p>
          <a:p>
            <a:endParaRPr lang="en-IN" b="1" dirty="0"/>
          </a:p>
          <a:p>
            <a:r>
              <a:rPr lang="en-IN" b="1" dirty="0"/>
              <a:t>Course Registration Table: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FDCC07-3984-757C-5195-81763ECB53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263470"/>
              </p:ext>
            </p:extLst>
          </p:nvPr>
        </p:nvGraphicFramePr>
        <p:xfrm>
          <a:off x="1440742" y="2879663"/>
          <a:ext cx="7924800" cy="3534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843935576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43596506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50833715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121942475"/>
                    </a:ext>
                  </a:extLst>
                </a:gridCol>
              </a:tblGrid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8740825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Student_id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NUMBER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Registration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349371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Subject_id</a:t>
                      </a:r>
                      <a:r>
                        <a:rPr lang="en-IN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NUMBER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Subject ID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Foreign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805091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Subject_code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VARCHAR2(10)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Subject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Foreign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1596150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Registration_date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of </a:t>
                      </a:r>
                      <a:r>
                        <a:rPr lang="en-IN" dirty="0" err="1"/>
                        <a:t>Enrollment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121843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Academic_year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VARCHAR2(!0)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Current Academic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886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368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271227-37A8-BD2E-DA5F-9D1409CD539E}"/>
              </a:ext>
            </a:extLst>
          </p:cNvPr>
          <p:cNvSpPr txBox="1"/>
          <p:nvPr/>
        </p:nvSpPr>
        <p:spPr>
          <a:xfrm>
            <a:off x="872251" y="1037173"/>
            <a:ext cx="7924801" cy="539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3953B3A5-B246-55AD-515B-436ED9F0D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698EF3-6CC5-CB2B-B3DF-1F2230442C23}"/>
              </a:ext>
            </a:extLst>
          </p:cNvPr>
          <p:cNvSpPr txBox="1"/>
          <p:nvPr/>
        </p:nvSpPr>
        <p:spPr>
          <a:xfrm>
            <a:off x="1066800" y="1770020"/>
            <a:ext cx="861059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Management Module:</a:t>
            </a:r>
          </a:p>
          <a:p>
            <a:pPr lvl="2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Stores student details such as ID,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Name,Branch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Semester.</a:t>
            </a:r>
          </a:p>
          <a:p>
            <a:pPr marL="342900" lvl="2" indent="-342900" algn="just">
              <a:buAutoNum type="arabicPeriod" startAt="2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and Result Module:</a:t>
            </a:r>
          </a:p>
          <a:p>
            <a:pPr lvl="2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Handles marks entry and updates for various subjects.</a:t>
            </a:r>
          </a:p>
          <a:p>
            <a:pPr lvl="2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Subject Management Module:</a:t>
            </a:r>
          </a:p>
          <a:p>
            <a:pPr lvl="2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Allows registration of different subjects and course codes.</a:t>
            </a:r>
          </a:p>
          <a:p>
            <a:pPr lvl="2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Database Connectivity Module:</a:t>
            </a:r>
          </a:p>
          <a:p>
            <a:pPr lvl="2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Connects the Java application with Oracle DB using JDBC.</a:t>
            </a:r>
          </a:p>
          <a:p>
            <a:pPr lvl="2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Console Interface Module:</a:t>
            </a:r>
          </a:p>
          <a:p>
            <a:pPr lvl="2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Provides a menu-driven interface in the console for easy navigation.</a:t>
            </a:r>
          </a:p>
          <a:p>
            <a:pPr lvl="2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User Authentication Module:</a:t>
            </a:r>
          </a:p>
          <a:p>
            <a:pPr lvl="2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Manages secure access to the system through a login interface for different roles.</a:t>
            </a:r>
          </a:p>
          <a:p>
            <a:pPr lvl="2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Faculty Assignment Module:</a:t>
            </a:r>
          </a:p>
          <a:p>
            <a:pPr lvl="2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Maps specific faculty members to the subjects they are responsible for teaching.</a:t>
            </a:r>
          </a:p>
          <a:p>
            <a:pPr lvl="2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Branch and Department Module:</a:t>
            </a:r>
          </a:p>
          <a:p>
            <a:pPr lvl="2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Maintains the list of academic branches such as Computer Science,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IT,or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Electronics.</a:t>
            </a:r>
          </a:p>
          <a:p>
            <a:pPr lvl="2"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FCEC1-8847-6524-FB98-5F9DB7768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6041" y="1281056"/>
            <a:ext cx="3366319" cy="50292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IN" sz="26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Screen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6B9B98-99EF-A537-6405-74E8E456E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" y="1948815"/>
            <a:ext cx="9258299" cy="768096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console-based login system showing role selection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Admin,Faculty,Student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a successful admin login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2B2AB3-45D5-FC92-D779-C16757148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057" y="2716911"/>
            <a:ext cx="6816852" cy="3106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A5C3A9F9-D568-CC71-A876-FC82CA4764B7}"/>
              </a:ext>
            </a:extLst>
          </p:cNvPr>
          <p:cNvGrpSpPr/>
          <p:nvPr/>
        </p:nvGrpSpPr>
        <p:grpSpPr>
          <a:xfrm>
            <a:off x="2694417" y="17249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DFB37A81-118E-C0F8-4F49-61F1879D14D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5E255E1-5152-1DAE-8D77-EB0A64418E5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47925B0C-18B9-1BD7-32FF-C238807C3B1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77BDD619-6FD9-4678-A8A0-A8F6785A2E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C7E2ABE-C73E-FD15-2310-D0E31CA0CF68}"/>
              </a:ext>
            </a:extLst>
          </p:cNvPr>
          <p:cNvSpPr txBox="1"/>
          <p:nvPr/>
        </p:nvSpPr>
        <p:spPr>
          <a:xfrm>
            <a:off x="4038600" y="408963"/>
            <a:ext cx="5115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dirty="0"/>
          </a:p>
        </p:txBody>
      </p:sp>
      <p:pic>
        <p:nvPicPr>
          <p:cNvPr id="14" name="object 3">
            <a:extLst>
              <a:ext uri="{FF2B5EF4-FFF2-40B4-BE49-F238E27FC236}">
                <a16:creationId xmlns:a16="http://schemas.microsoft.com/office/drawing/2014/main" id="{9653CEC5-71C7-DDC1-26D9-373F9D09293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929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53D63-78C7-26DC-BC85-4E46791C1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8B0D3-61F5-A8D1-8778-A790B9E7F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5678" y="1258902"/>
            <a:ext cx="4293772" cy="50292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IN" sz="26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Menu and Add Student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E7762-A304-3F8A-BC49-3441D682D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" y="1948815"/>
            <a:ext cx="9258299" cy="768096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the admin to access the system menu and add new student details into the database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DDAB4D-6324-3244-62AB-AC25E624D0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576" y="2716910"/>
            <a:ext cx="3593592" cy="3360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372C06-3327-60C4-5E89-0135968A52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844" y="2716910"/>
            <a:ext cx="3730752" cy="3360420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9BA46DB3-116B-556F-94BC-644CCC9268C9}"/>
              </a:ext>
            </a:extLst>
          </p:cNvPr>
          <p:cNvGrpSpPr/>
          <p:nvPr/>
        </p:nvGrpSpPr>
        <p:grpSpPr>
          <a:xfrm>
            <a:off x="2694417" y="172490"/>
            <a:ext cx="5103904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93392725-C265-551F-26F7-A3E819DEE01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63A3D465-2095-47E9-44B9-A6B8FF57435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CB25C7BC-2A65-B250-37FD-D18A29C4989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172DF723-86BC-88C6-D812-8C2D6083EAF4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81C6CB2-3BBF-0991-211D-05C523BE792E}"/>
              </a:ext>
            </a:extLst>
          </p:cNvPr>
          <p:cNvSpPr txBox="1"/>
          <p:nvPr/>
        </p:nvSpPr>
        <p:spPr>
          <a:xfrm>
            <a:off x="4038600" y="423455"/>
            <a:ext cx="5042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dirty="0"/>
          </a:p>
        </p:txBody>
      </p:sp>
      <p:pic>
        <p:nvPicPr>
          <p:cNvPr id="14" name="object 3">
            <a:extLst>
              <a:ext uri="{FF2B5EF4-FFF2-40B4-BE49-F238E27FC236}">
                <a16:creationId xmlns:a16="http://schemas.microsoft.com/office/drawing/2014/main" id="{A39B31E6-9E32-E40D-45AF-5A620869C9C8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47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3E059-430E-AE06-FE2A-E05853E4F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AE855-3EA8-5C79-8BAE-E3FBA69D6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6040" y="1281056"/>
            <a:ext cx="4293772" cy="50292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IN" sz="26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Course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3C921-7360-5084-EBAA-10E6EB27C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" y="1948815"/>
            <a:ext cx="9258299" cy="768096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console-based admin menu displaying multiple management options, with a student successfully registered for a course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29F78D-436D-A344-ADC2-63D107E9B9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092" y="2716910"/>
            <a:ext cx="5911596" cy="3511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B40011C2-E92E-31A6-6A33-2997046E6D4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>
            <a:extLst>
              <a:ext uri="{FF2B5EF4-FFF2-40B4-BE49-F238E27FC236}">
                <a16:creationId xmlns:a16="http://schemas.microsoft.com/office/drawing/2014/main" id="{DF90ECA9-49B9-51C5-6E7C-D00873218743}"/>
              </a:ext>
            </a:extLst>
          </p:cNvPr>
          <p:cNvGrpSpPr/>
          <p:nvPr/>
        </p:nvGrpSpPr>
        <p:grpSpPr>
          <a:xfrm>
            <a:off x="2694417" y="172490"/>
            <a:ext cx="5103904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469EEFD0-2821-4150-8B93-7FD5286212D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B93340C6-B5D4-D8CD-28A3-DD3B3675489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3AE21BCC-8DCC-D26C-9E0F-25F33F7312A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68D08ED0-8300-8D82-5BA3-F6E3170A169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BCC83D5-50D5-F448-7582-FCFE8C960C3F}"/>
              </a:ext>
            </a:extLst>
          </p:cNvPr>
          <p:cNvSpPr txBox="1"/>
          <p:nvPr/>
        </p:nvSpPr>
        <p:spPr>
          <a:xfrm>
            <a:off x="4009786" y="405333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9622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942F4-E9FC-867C-01B1-1A8A5A0CB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15B88-09D3-3C34-35AC-A99A17B87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6040" y="1281056"/>
            <a:ext cx="4293772" cy="50292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IN" sz="26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B1C7DD-1A39-4E23-61A9-7ADB910EAC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" y="1948815"/>
            <a:ext cx="9258299" cy="768096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console – based admin menu displaying student results with marks and corresponding grades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1C6B8B-F0D0-D4C6-FC7B-BEE2DE0417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76" y="2552319"/>
            <a:ext cx="5815584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107E4611-E90E-85B1-AC45-22EC2C85947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FDBADD51-84F0-2EE6-9750-7CE626AF14D5}"/>
              </a:ext>
            </a:extLst>
          </p:cNvPr>
          <p:cNvGrpSpPr/>
          <p:nvPr/>
        </p:nvGrpSpPr>
        <p:grpSpPr>
          <a:xfrm>
            <a:off x="2694417" y="172490"/>
            <a:ext cx="5103904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863429E0-EAD0-9F88-55EF-4A13F1C7767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E5486D9F-90D0-6AEA-1DB8-68BA00D06EE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B413DB3F-D3A8-E23D-8550-E98CDF2F55A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9542103D-5EED-BC7A-0FE5-4CEAF9B398D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B1DE717-F8D0-79F4-A145-25F108E3DFFB}"/>
              </a:ext>
            </a:extLst>
          </p:cNvPr>
          <p:cNvSpPr txBox="1"/>
          <p:nvPr/>
        </p:nvSpPr>
        <p:spPr>
          <a:xfrm>
            <a:off x="4009786" y="443983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9855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487E9-267F-5AE3-7E55-731E54BF1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2874C-DAD2-0129-F629-29B75A69C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6040" y="1281056"/>
            <a:ext cx="4293772" cy="50292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IN" sz="26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Table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0F55E8-9AFC-A348-F84B-0430520C4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50" y="2017395"/>
            <a:ext cx="9489186" cy="768096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image shows an admin menu of a student management system displaying performance with student’s marks and grades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FAAE87-8AAE-6E0B-5743-6B11B13343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288" y="2785490"/>
            <a:ext cx="5692140" cy="3511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1DAFAE44-7C0B-C2F2-FC6A-905612A172A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5FEA5FFA-5653-2B06-9E09-2BBC39DD5C52}"/>
              </a:ext>
            </a:extLst>
          </p:cNvPr>
          <p:cNvGrpSpPr/>
          <p:nvPr/>
        </p:nvGrpSpPr>
        <p:grpSpPr>
          <a:xfrm>
            <a:off x="2694417" y="172490"/>
            <a:ext cx="5103904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B5A266B8-53C6-8DA2-387E-3E04390C2EE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BE8A831C-3FA2-5206-E770-AD4AECB6488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30F54D6A-0EF7-7177-D999-97D9D413AE14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35233FF0-4B1E-5CF0-FB0C-0A1988045AC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ECC098E-D92B-F00B-B988-418970D62904}"/>
              </a:ext>
            </a:extLst>
          </p:cNvPr>
          <p:cNvSpPr txBox="1"/>
          <p:nvPr/>
        </p:nvSpPr>
        <p:spPr>
          <a:xfrm>
            <a:off x="3989908" y="443983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24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21CEB-AB9D-CF48-A53A-7135D4870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AC1B6-6D68-E4BE-7798-FF5224D96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6040" y="1281056"/>
            <a:ext cx="4293772" cy="50292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IN" sz="26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89F524-1E1B-6709-BE13-66417688F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50" y="2017395"/>
            <a:ext cx="9489186" cy="768096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shows an academic admin menu where the user logged out successfully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85D4BE-5DF1-B3CC-8BC1-7AE2CB5F6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241" y="2785490"/>
            <a:ext cx="5829300" cy="3401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D9537873-B55E-D33C-8FDE-6EF2EF0B945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2C484369-3B4D-27B1-0A26-7159C3CA8EF8}"/>
              </a:ext>
            </a:extLst>
          </p:cNvPr>
          <p:cNvGrpSpPr/>
          <p:nvPr/>
        </p:nvGrpSpPr>
        <p:grpSpPr>
          <a:xfrm>
            <a:off x="2694417" y="172490"/>
            <a:ext cx="5103904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9BD19C18-54E1-F0D2-8E37-68394A8787A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E0FF6FD2-8409-6D8E-DFAB-3762C34E480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4332B3C6-1293-BA57-EBAB-00D1160F814D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AE295671-4716-1F6C-4456-4D378E1B51D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0C3BF5A-A012-3543-BE0A-3411084BAF0F}"/>
              </a:ext>
            </a:extLst>
          </p:cNvPr>
          <p:cNvSpPr txBox="1"/>
          <p:nvPr/>
        </p:nvSpPr>
        <p:spPr>
          <a:xfrm>
            <a:off x="3999847" y="41648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92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B6DF3-F71A-F4C1-CE5C-DE671181E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5F9F6-7C1D-A59B-535F-C1971D367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6040" y="1281056"/>
            <a:ext cx="4293772" cy="50292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IN" sz="26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Menu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5B831B-0FD0-ECC7-6AC2-ACEBE3ABD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50" y="2017395"/>
            <a:ext cx="9489186" cy="768096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a faculty menu with options for managing subjects, marks and results.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C680A9-7FFB-5BD7-C51F-6F21F1D338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673" y="2785490"/>
            <a:ext cx="5692139" cy="345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0045EBB2-73D6-1FC6-0019-A250FA99B5C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5B108E58-A9EE-A35C-F1F5-813797BBE0D2}"/>
              </a:ext>
            </a:extLst>
          </p:cNvPr>
          <p:cNvGrpSpPr/>
          <p:nvPr/>
        </p:nvGrpSpPr>
        <p:grpSpPr>
          <a:xfrm>
            <a:off x="2694417" y="172490"/>
            <a:ext cx="5103904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E7F05BAE-BD90-CA5F-6C53-203B5D78E8A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22BC4765-5029-70B7-D8F4-42582458ACB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9AC9EE81-41EE-9E80-AEB8-32A6751BBD2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E7C37E03-2C62-8C03-94A8-020477F11E3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8EB32B7-3C7A-CE16-3763-05D34845B671}"/>
              </a:ext>
            </a:extLst>
          </p:cNvPr>
          <p:cNvSpPr txBox="1"/>
          <p:nvPr/>
        </p:nvSpPr>
        <p:spPr>
          <a:xfrm>
            <a:off x="4009786" y="403228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420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0BF64-630F-687E-CBCD-8AD673910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F10F7-62C4-7EC3-1024-8CB860D78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6040" y="1281056"/>
            <a:ext cx="4293772" cy="50292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IN" sz="26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Menu-Enter Marks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11C21-B66E-C16D-6867-51F9510F5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50" y="2017395"/>
            <a:ext cx="9489186" cy="768096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faculty menu interface shows a marks entry example where a student’s score is saved successfully.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45F02C19-FED8-4F33-AA4D-A9DF256C065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965C764E-E3AE-12B0-F393-E1D3440F6292}"/>
              </a:ext>
            </a:extLst>
          </p:cNvPr>
          <p:cNvGrpSpPr/>
          <p:nvPr/>
        </p:nvGrpSpPr>
        <p:grpSpPr>
          <a:xfrm>
            <a:off x="2694417" y="172490"/>
            <a:ext cx="5103904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22E32335-0E1C-FA7E-9BD3-2CFCF1BF040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9DFDB52D-2A28-D771-824C-BE8579AF9B2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30910024-D1CD-8579-90B3-6C4F15FE0EF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BC3C69F4-EC4B-8551-BCEA-8F04DFF617A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B7976A0-4114-74DB-B9AA-6298AEC3EE8A}"/>
              </a:ext>
            </a:extLst>
          </p:cNvPr>
          <p:cNvSpPr txBox="1"/>
          <p:nvPr/>
        </p:nvSpPr>
        <p:spPr>
          <a:xfrm>
            <a:off x="4009786" y="403228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C1F707-8D0B-009E-214F-28C924439F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752" y="2895600"/>
            <a:ext cx="7080648" cy="3886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8889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AEF08-89A1-33AE-1123-CAB7D8BB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FAC3-D497-E842-2066-DFDDAA99B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6040" y="1281056"/>
            <a:ext cx="4293772" cy="50292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IN" sz="26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Menu-My Subjects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07BA3D-C05D-75F9-FAED-549CF93FB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50" y="2017395"/>
            <a:ext cx="9489186" cy="768096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faculty menu interface shows a marks entry example where a student’s score is saved successfully.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151908-071D-A42D-F6C3-8AA18D300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785491"/>
            <a:ext cx="5870448" cy="3483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926F6A97-9E7B-5A42-754F-752F827BB01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>
            <a:extLst>
              <a:ext uri="{FF2B5EF4-FFF2-40B4-BE49-F238E27FC236}">
                <a16:creationId xmlns:a16="http://schemas.microsoft.com/office/drawing/2014/main" id="{7D4E450D-B3C9-61CB-53C8-655CC4A68F76}"/>
              </a:ext>
            </a:extLst>
          </p:cNvPr>
          <p:cNvGrpSpPr/>
          <p:nvPr/>
        </p:nvGrpSpPr>
        <p:grpSpPr>
          <a:xfrm>
            <a:off x="2694417" y="172490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867BACB4-79F3-0811-D4F2-F0EC732354B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3D47B673-EBDE-7AFE-F999-47091E661ED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D5B59445-C65C-FBB6-F0E3-4AB540ABF86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653711D-3408-0A5C-F659-A0A0C85E74C5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AD292EA-4C03-AF7A-4EFC-050EB7E75579}"/>
              </a:ext>
            </a:extLst>
          </p:cNvPr>
          <p:cNvSpPr txBox="1"/>
          <p:nvPr/>
        </p:nvSpPr>
        <p:spPr>
          <a:xfrm>
            <a:off x="4009786" y="403228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284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19D3F-DFF6-89F7-B69C-587F7AB34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8EF1A-987B-7B59-56B5-CF0CDB2F3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6040" y="1281056"/>
            <a:ext cx="4293772" cy="50292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IN" sz="26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Menu-Subject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1B202B-9D83-4AD5-D10C-D5EF77B56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50" y="2017395"/>
            <a:ext cx="9489186" cy="768096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faculty menu shows subject results where Geeth scored 100 marks and passed.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5745BE-F295-0762-4697-938BEF8A31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709" y="2785491"/>
            <a:ext cx="6117335" cy="3456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DF44450E-CEE0-4683-41CE-05E42643384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CEA17F21-A6B6-022C-A9B5-C435410EC19B}"/>
              </a:ext>
            </a:extLst>
          </p:cNvPr>
          <p:cNvGrpSpPr/>
          <p:nvPr/>
        </p:nvGrpSpPr>
        <p:grpSpPr>
          <a:xfrm>
            <a:off x="2694417" y="172490"/>
            <a:ext cx="5103904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51B98CD2-B711-0CE0-0E23-11A96C406CB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2725C5DA-9EDD-22F2-6421-140C82064B3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BAA77AA1-B5C2-64CC-4BFE-D8AB5ED6210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82C069F1-EDB8-EA32-D00C-C8BC2DFAFF3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A0E8A4C-F1E2-2020-8B2C-DBA5B6C6BC91}"/>
              </a:ext>
            </a:extLst>
          </p:cNvPr>
          <p:cNvSpPr txBox="1"/>
          <p:nvPr/>
        </p:nvSpPr>
        <p:spPr>
          <a:xfrm>
            <a:off x="4009786" y="403228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617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44C4B-EF00-D92C-2D28-E7D48DF0E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05FCF-CFD6-624B-02BC-B6315F51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6040" y="1281056"/>
            <a:ext cx="4293772" cy="50292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IN" sz="26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Menu-Pass Percentage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095A51-D41A-CE7B-C5FD-52E54262B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50" y="2017395"/>
            <a:ext cx="9489186" cy="768096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faculty menu shows subject results where Geeth scored 100 marks and passed.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0DBFE5-A8B1-8A33-59E5-F31D71653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008" y="2785489"/>
            <a:ext cx="6885320" cy="3470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BFEF4AB3-C5F3-27E3-DF66-3720C290EB7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BBF41B74-E892-25A7-E5D1-7FE611511FD8}"/>
              </a:ext>
            </a:extLst>
          </p:cNvPr>
          <p:cNvGrpSpPr/>
          <p:nvPr/>
        </p:nvGrpSpPr>
        <p:grpSpPr>
          <a:xfrm>
            <a:off x="2694417" y="172490"/>
            <a:ext cx="5103904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3D4001D3-F630-AE68-5E27-004AA05B2DD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9624006F-60EA-6EE0-ADF0-471CB5AB408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4D2C0841-3C6A-3502-3394-C0BAE03BD0A2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FCCBE30E-6A7D-2142-162B-58814D7EFFC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9CF8755-13D0-7372-5BC6-F78169631A61}"/>
              </a:ext>
            </a:extLst>
          </p:cNvPr>
          <p:cNvSpPr txBox="1"/>
          <p:nvPr/>
        </p:nvSpPr>
        <p:spPr>
          <a:xfrm>
            <a:off x="4009786" y="403228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1714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03735-13D2-4C64-102C-D45C790E4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610F-9971-BCDD-C0A4-AE64F6548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6040" y="1281056"/>
            <a:ext cx="4293772" cy="50292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IN" sz="26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Menu – Full Result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DE16F6-5FA0-F068-2F16-DC643C65E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50" y="2017395"/>
            <a:ext cx="9489186" cy="768096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faculty menu shows subject results where Geeth scored 100 marks and passed.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36D592-5F5E-1730-F0B3-6E8E9CE976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956" y="2538532"/>
            <a:ext cx="5980175" cy="3579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A327A659-1991-8559-0B8C-600C2A5ABBC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6D81349A-3B68-C0D9-95D2-5707ED4E7266}"/>
              </a:ext>
            </a:extLst>
          </p:cNvPr>
          <p:cNvGrpSpPr/>
          <p:nvPr/>
        </p:nvGrpSpPr>
        <p:grpSpPr>
          <a:xfrm>
            <a:off x="2694417" y="172490"/>
            <a:ext cx="5103904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258FDDF4-A6DA-AA24-4517-A801F64DC3C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17D50B7B-70FC-C954-4259-495F3C077F7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CA17EF29-9F1B-3030-D0AB-0AF97560D86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8CC94F6B-9CED-047F-271F-F99C464F0091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BF55085-909D-BD80-B62E-79AC0E60E989}"/>
              </a:ext>
            </a:extLst>
          </p:cNvPr>
          <p:cNvSpPr txBox="1"/>
          <p:nvPr/>
        </p:nvSpPr>
        <p:spPr>
          <a:xfrm>
            <a:off x="4009786" y="403228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2257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FE9FF-A7F3-B7EF-074D-DD939CA63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7A36-DF0C-D846-B90C-64675C8DB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7696" y="1146307"/>
            <a:ext cx="5253893" cy="50292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IN" sz="26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Menu – Subject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850DB-BF5B-EED0-4705-5EE5AE5764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50" y="2017395"/>
            <a:ext cx="9489186" cy="768096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dashboard shows Ravi’s subject performance where Network is graded AB and marked as FAIL.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9AF89C-66E0-17D6-D944-DD28FC027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352" y="3018908"/>
            <a:ext cx="6926580" cy="3099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9F42BDD4-CC17-9862-1EE3-8660A99C3DC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3B1A8C42-4F13-8652-8485-879C9CF8B788}"/>
              </a:ext>
            </a:extLst>
          </p:cNvPr>
          <p:cNvGrpSpPr/>
          <p:nvPr/>
        </p:nvGrpSpPr>
        <p:grpSpPr>
          <a:xfrm>
            <a:off x="2694417" y="172490"/>
            <a:ext cx="5103904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D90EDC68-1823-47FB-2066-0014C8A891F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F07E5BE8-7A54-D26B-B537-44A5CCE4387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73D44781-4347-5695-B053-A61C9EB1366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BF5420B3-9C63-AC98-0419-F3FACBAC3E4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1BA8CEE-5BF7-9A06-0379-1F7AE75E67E9}"/>
              </a:ext>
            </a:extLst>
          </p:cNvPr>
          <p:cNvSpPr txBox="1"/>
          <p:nvPr/>
        </p:nvSpPr>
        <p:spPr>
          <a:xfrm>
            <a:off x="4009786" y="403228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2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3B5A7-2E05-2D44-B812-739FE833C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94919-386C-AE55-79C5-94B56B9FD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6040" y="1281056"/>
            <a:ext cx="4293772" cy="50292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IN" sz="26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Menu – My Courses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D64CC1-DB53-414C-759D-FE5758119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50" y="2017395"/>
            <a:ext cx="9489186" cy="768096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dashboard shows the course list, displaying “Networks” as Ravi’s enrolled subject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227281-8B3F-6ABB-03AE-D695F5DBC3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898316"/>
            <a:ext cx="5747004" cy="3302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184EA8F9-6678-35F2-0131-400510C8ED2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8D1169AB-726B-D79E-6B13-B128A6E6E053}"/>
              </a:ext>
            </a:extLst>
          </p:cNvPr>
          <p:cNvGrpSpPr/>
          <p:nvPr/>
        </p:nvGrpSpPr>
        <p:grpSpPr>
          <a:xfrm>
            <a:off x="2694417" y="172490"/>
            <a:ext cx="5103904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B811B976-AB2A-A436-E805-1177C53CF7A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61497E45-0565-2029-8642-0ED5992723D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D597D2C6-462E-4F4B-D354-453D9FDF59F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67B833F1-8806-C4BF-1D90-2571CE5F3139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1E3F606-15E0-568D-82EB-DDC8F93296C8}"/>
              </a:ext>
            </a:extLst>
          </p:cNvPr>
          <p:cNvSpPr txBox="1"/>
          <p:nvPr/>
        </p:nvSpPr>
        <p:spPr>
          <a:xfrm>
            <a:off x="4009786" y="403228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9811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CAE88-6404-3255-DE8D-F161988EA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05120-2A9B-54D0-5425-F514CB337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6040" y="1281056"/>
            <a:ext cx="4568091" cy="50292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IN" sz="26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Menu – Grade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ADCA8-DED6-8999-99BF-3D70CA7D2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50" y="2017395"/>
            <a:ext cx="9489186" cy="768096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dashboard grade summary shows 0 passes , 1 fail, and 1 absent.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DCD146-D307-9F32-01F0-598F25D3A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649" y="2640687"/>
            <a:ext cx="6583680" cy="3422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51FAECB8-406B-16E7-662A-0CB8FB5BCCF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>
            <a:extLst>
              <a:ext uri="{FF2B5EF4-FFF2-40B4-BE49-F238E27FC236}">
                <a16:creationId xmlns:a16="http://schemas.microsoft.com/office/drawing/2014/main" id="{EDBD4715-B9D2-66E7-EBFB-BAA8FFD6BF2C}"/>
              </a:ext>
            </a:extLst>
          </p:cNvPr>
          <p:cNvGrpSpPr/>
          <p:nvPr/>
        </p:nvGrpSpPr>
        <p:grpSpPr>
          <a:xfrm>
            <a:off x="2694417" y="172490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A99BA203-85F1-7205-136F-19ACD1F07A0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554C3F10-CECE-2EF8-9A73-4691A613CAB0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57BFA9F4-0AEC-598E-A0F5-221ADFCE4FD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FE3B7529-32F9-17D4-BBC5-CBC9CB817C7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6FEB357-9AE8-7D01-9054-6DE87E4D19A6}"/>
              </a:ext>
            </a:extLst>
          </p:cNvPr>
          <p:cNvSpPr txBox="1"/>
          <p:nvPr/>
        </p:nvSpPr>
        <p:spPr>
          <a:xfrm>
            <a:off x="4009786" y="403228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1163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6B15-FBBA-88E4-439B-3760D86B9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AA4C980-B3A7-207C-41C1-E5E20AC1774F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FCE0C84F-6254-D24F-D561-30DE987BE35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7909B96B-5C39-8043-CA2D-5B828EFA757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5015D36-BC2F-3B81-753E-F473E84B785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F2E63626-00F9-C9BD-F925-C51513AE50E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D4D54D4E-EE1A-E311-1FB3-DF54075DFC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49027" y="438046"/>
            <a:ext cx="27603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987431-337A-DB3D-5560-70B732DBEDE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718B4E0-BCD4-27B3-8007-E2D45D3D9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47" y="934520"/>
            <a:ext cx="9296400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Interface: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responsive and user-friendly platform that allows users to access the system from any device with an internet connection.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Result Portal: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students to view and download their academic performance reports instantly by entering their unique credentials.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Search &amp; Filters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administrators to quickly locate specific student records or filter results based on criteria like roll number, class, or semester.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 Dashboard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graphical representations like charts and graphs to help faculty analyze overall class performance and identify academic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Enhancements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Implements robust authentication and encrypted data storage to protect sensitive student information from unauthorized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 &amp; Report Generation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Facilitates the creation of professional PDF or Excel reports for official documentation and offline record-keeping.</a:t>
            </a:r>
          </a:p>
        </p:txBody>
      </p:sp>
    </p:spTree>
    <p:extLst>
      <p:ext uri="{BB962C8B-B14F-4D97-AF65-F5344CB8AC3E}">
        <p14:creationId xmlns:p14="http://schemas.microsoft.com/office/powerpoint/2010/main" val="12187896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02E41-7E6E-9AB7-4311-D58503EE4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376381-AD7A-228D-6305-1256490B7F5E}"/>
              </a:ext>
            </a:extLst>
          </p:cNvPr>
          <p:cNvSpPr txBox="1"/>
          <p:nvPr/>
        </p:nvSpPr>
        <p:spPr>
          <a:xfrm>
            <a:off x="304800" y="1034052"/>
            <a:ext cx="9448800" cy="6821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The following references were used during the development of the Employee Management System:</a:t>
            </a:r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Herbert Schildt</a:t>
            </a:r>
            <a:r>
              <a:rPr lang="en-IN" dirty="0"/>
              <a:t>, </a:t>
            </a:r>
            <a:r>
              <a:rPr lang="en-IN" i="1" dirty="0"/>
              <a:t>Java: The Complete Reference</a:t>
            </a:r>
            <a:r>
              <a:rPr lang="en-IN" dirty="0"/>
              <a:t>, Oracle Press, 11th Edition.</a:t>
            </a:r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E. </a:t>
            </a:r>
            <a:r>
              <a:rPr lang="en-IN" b="1" dirty="0" err="1"/>
              <a:t>Balagurusamy</a:t>
            </a:r>
            <a:r>
              <a:rPr lang="en-IN" dirty="0"/>
              <a:t>, </a:t>
            </a:r>
            <a:r>
              <a:rPr lang="en-IN" i="1" dirty="0"/>
              <a:t>Programming with Java</a:t>
            </a:r>
            <a:r>
              <a:rPr lang="en-IN" dirty="0"/>
              <a:t>, McGraw Hill Education.</a:t>
            </a:r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Korth, Silberschatz, Sudarshan</a:t>
            </a:r>
            <a:r>
              <a:rPr lang="en-IN" dirty="0"/>
              <a:t>, </a:t>
            </a:r>
            <a:r>
              <a:rPr lang="en-IN" i="1" dirty="0"/>
              <a:t>Database System Concepts</a:t>
            </a:r>
            <a:r>
              <a:rPr lang="en-IN" dirty="0"/>
              <a:t>, McGraw Hill.</a:t>
            </a:r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Oracle Documentation</a:t>
            </a:r>
            <a:r>
              <a:rPr lang="en-IN" dirty="0"/>
              <a:t>,</a:t>
            </a:r>
            <a:br>
              <a:rPr lang="en-IN" dirty="0"/>
            </a:br>
            <a:r>
              <a:rPr lang="en-IN" u="sng" dirty="0">
                <a:hlinkClick r:id="rId2"/>
              </a:rPr>
              <a:t>https://docs.oracle.com</a:t>
            </a:r>
            <a:endParaRPr lang="en-IN" dirty="0"/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Java Documentation (Oracle)</a:t>
            </a:r>
            <a:r>
              <a:rPr lang="en-IN" dirty="0"/>
              <a:t>,</a:t>
            </a:r>
            <a:br>
              <a:rPr lang="en-IN" dirty="0"/>
            </a:br>
            <a:r>
              <a:rPr lang="en-IN" u="sng" dirty="0">
                <a:hlinkClick r:id="rId3"/>
              </a:rPr>
              <a:t>https://docs.oracle.com/javase</a:t>
            </a:r>
            <a:endParaRPr lang="en-IN" dirty="0"/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JDBC Tutorial – </a:t>
            </a:r>
            <a:r>
              <a:rPr lang="en-IN" b="1" dirty="0" err="1"/>
              <a:t>GeeksforGeeks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https://www.geeksforgeeks.org/jdbc/</a:t>
            </a:r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Java Swing Tutorial – </a:t>
            </a:r>
            <a:r>
              <a:rPr lang="en-IN" b="1" dirty="0" err="1"/>
              <a:t>TutorialsPoint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https://www.tutorialspoint.com/java_swing</a:t>
            </a:r>
          </a:p>
          <a:p>
            <a:pPr marL="71437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W3Schools Java Tutorial</a:t>
            </a:r>
            <a:r>
              <a:rPr lang="en-IN" dirty="0"/>
              <a:t>,</a:t>
            </a:r>
            <a:br>
              <a:rPr lang="en-IN" dirty="0"/>
            </a:br>
            <a:r>
              <a:rPr lang="en-IN" u="sng" dirty="0">
                <a:hlinkClick r:id="rId4"/>
              </a:rPr>
              <a:t>https://www.w3schools.com/java/</a:t>
            </a:r>
            <a:endParaRPr lang="en-IN" dirty="0"/>
          </a:p>
          <a:p>
            <a:pPr algn="just">
              <a:lnSpc>
                <a:spcPct val="150000"/>
              </a:lnSpc>
            </a:pPr>
            <a:endParaRPr lang="en-IN" sz="2000" dirty="0"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32D71BC4-812B-11BE-6A6C-1CA5A91B779D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6897A887-118D-142E-FC3E-D6BE5C1E979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A69A73B6-BAAC-6763-2263-E88C0E65C7C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B12E086F-BA20-7EBA-DFAA-D7884D2F86C0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CD22B9F6-01CA-54BB-97B5-0180CEF24C6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E459A9DA-9776-0281-AD94-A452E7257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4015" y="429568"/>
            <a:ext cx="27603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6E0266AA-A7A6-E24C-77B4-437EA2766279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0207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BB4592-5775-79D7-4F02-0BE4F7025B51}"/>
              </a:ext>
            </a:extLst>
          </p:cNvPr>
          <p:cNvSpPr txBox="1"/>
          <p:nvPr/>
        </p:nvSpPr>
        <p:spPr>
          <a:xfrm>
            <a:off x="381000" y="891972"/>
            <a:ext cx="9448800" cy="585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tabLst>
                <a:tab pos="173038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Result Management System has been successfully developed to manage academic records and student evaluations efficiently and accurately. The system replaces traditional manual grading and record-keeping with a computerized solution, reducing human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errors,saving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administrative time, and improving data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intergrity.The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provides essential functionalities such as student and subject registrations, faculty assignments, marks entry, and automated result generation through a role-based console interface. By utilizing technologies like Java, JDBC and Oracle Database, the system ensures robust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performance,secire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handling, and real-time access to academic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metrics.Overall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the system improves the efficiency of managing institutional data, prevents unauthorized access through secure logins, and streamlines the workload for both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adminstrators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faculty. It also provides a scalable foundation that can be enhanced in the future by adding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feayires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automated SGPA/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CGPA,calculations,Pdf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report generation, and an online web-based portal for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parents.In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conclusion, The Student Result Management System meets the project objectives and secures as ana effective tool for managing education record in a reliable, organized, and transparent manner.</a:t>
            </a: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40DDB7-FF77-E6D6-3359-F46CC69E4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865361"/>
              </p:ext>
            </p:extLst>
          </p:nvPr>
        </p:nvGraphicFramePr>
        <p:xfrm>
          <a:off x="-5029199" y="2041090"/>
          <a:ext cx="4648199" cy="32940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48199">
                  <a:extLst>
                    <a:ext uri="{9D8B030D-6E8A-4147-A177-3AD203B41FA5}">
                      <a16:colId xmlns:a16="http://schemas.microsoft.com/office/drawing/2014/main" val="3315333966"/>
                    </a:ext>
                  </a:extLst>
                </a:gridCol>
              </a:tblGrid>
              <a:tr h="3294063">
                <a:tc>
                  <a:txBody>
                    <a:bodyPr/>
                    <a:lstStyle/>
                    <a:p>
                      <a:pPr marL="293370" marR="295275" indent="-876935" algn="just">
                        <a:lnSpc>
                          <a:spcPct val="115000"/>
                        </a:lnSpc>
                        <a:spcBef>
                          <a:spcPts val="685"/>
                        </a:spcBef>
                        <a:buNone/>
                      </a:pPr>
                      <a:endParaRPr lang="en-IN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806" marR="107806" marT="0" marB="0"/>
                </a:tc>
                <a:extLst>
                  <a:ext uri="{0D108BD9-81ED-4DB2-BD59-A6C34878D82A}">
                    <a16:rowId xmlns:a16="http://schemas.microsoft.com/office/drawing/2014/main" val="1032371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2998</TotalTime>
  <Words>1842</Words>
  <Application>Microsoft Office PowerPoint</Application>
  <PresentationFormat>Custom</PresentationFormat>
  <Paragraphs>318</Paragraphs>
  <Slides>33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Cambria</vt:lpstr>
      <vt:lpstr>Palatino Linotype</vt:lpstr>
      <vt:lpstr>Times New Roman</vt:lpstr>
      <vt:lpstr>Wingdings</vt:lpstr>
      <vt:lpstr>Office Theme</vt:lpstr>
      <vt:lpstr>Java Programming Cornerstone Project Final Review Team-4 </vt:lpstr>
      <vt:lpstr>PowerPoint Presentation</vt:lpstr>
      <vt:lpstr>ABSTRACT</vt:lpstr>
      <vt:lpstr>PowerPoint Presentation</vt:lpstr>
      <vt:lpstr>PowerPoint Presentation</vt:lpstr>
      <vt:lpstr>PowerPoint Presentation</vt:lpstr>
      <vt:lpstr>Database Design</vt:lpstr>
      <vt:lpstr>Database Design</vt:lpstr>
      <vt:lpstr>Database Design</vt:lpstr>
      <vt:lpstr>Database Design</vt:lpstr>
      <vt:lpstr>Database Design</vt:lpstr>
      <vt:lpstr>Database Design</vt:lpstr>
      <vt:lpstr>Database Design</vt:lpstr>
      <vt:lpstr>SYSTEM DESIGN</vt:lpstr>
      <vt:lpstr>Login Screen</vt:lpstr>
      <vt:lpstr>Admin Menu and Add Student</vt:lpstr>
      <vt:lpstr>Register Course</vt:lpstr>
      <vt:lpstr>View Results</vt:lpstr>
      <vt:lpstr>Performance Table</vt:lpstr>
      <vt:lpstr>Logout</vt:lpstr>
      <vt:lpstr>Faculty Menu</vt:lpstr>
      <vt:lpstr>Faculty Menu-Enter Marks</vt:lpstr>
      <vt:lpstr>Faculty Menu-My Subjects</vt:lpstr>
      <vt:lpstr>Faculty Menu-Subject Results</vt:lpstr>
      <vt:lpstr>Faculty Menu-Pass Percentage</vt:lpstr>
      <vt:lpstr>Student Menu – Full Result</vt:lpstr>
      <vt:lpstr>Student Menu – Subject performance</vt:lpstr>
      <vt:lpstr>Student Menu – My Courses</vt:lpstr>
      <vt:lpstr>Student Menu – Grade Summary</vt:lpstr>
      <vt:lpstr>Future Enhancements</vt:lpstr>
      <vt:lpstr>References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saga sailesh</cp:lastModifiedBy>
  <cp:revision>55</cp:revision>
  <cp:lastPrinted>2025-10-14T18:21:49Z</cp:lastPrinted>
  <dcterms:created xsi:type="dcterms:W3CDTF">2025-10-10T08:28:06Z</dcterms:created>
  <dcterms:modified xsi:type="dcterms:W3CDTF">2026-04-07T04:51:14Z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